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/>
    <p:restoredTop sz="82177" autoAdjust="0"/>
  </p:normalViewPr>
  <p:slideViewPr>
    <p:cSldViewPr snapToGrid="0">
      <p:cViewPr varScale="1">
        <p:scale>
          <a:sx n="98" d="100"/>
          <a:sy n="98" d="100"/>
        </p:scale>
        <p:origin x="208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FCEF6D-239D-4373-B4DF-CDDD465E9849}" type="datetimeFigureOut">
              <a:rPr lang="en-CA" smtClean="0"/>
              <a:t>2023-05-14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2B3E6D-7AF7-48BA-9B36-6A68926FE3F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4547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0D1EC-CCB7-492E-8F4D-6F0C33FF3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AD7080-FBCF-419E-B25E-9D4AE53E6B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266BD-F89D-4A3E-A639-B68C2D706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72F63-7120-4CFC-9305-E984D4CB3D26}" type="datetimeFigureOut">
              <a:rPr lang="en-CA" smtClean="0"/>
              <a:t>2023-05-14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8F657-DEC5-44BD-949C-90959C538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C48B0-5C60-4B60-948B-686219DAC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B29EA-8101-4820-AAF3-48FE11DD84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74230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08826-D378-4346-BA53-AFEAAAF1B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D12E6-EFA1-45F4-A03F-BFC72E4D7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65A7C-978C-460B-A609-2B95DC54A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72F63-7120-4CFC-9305-E984D4CB3D26}" type="datetimeFigureOut">
              <a:rPr lang="en-CA" smtClean="0"/>
              <a:t>2023-05-14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5EB3C-44BE-4CE4-9A40-4E4497414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423F-6289-48F4-AC65-EBDC7AE0D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B29EA-8101-4820-AAF3-48FE11DD84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5438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7D5AC-5DA5-4C1F-A3E2-259127D8D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EF898-85B6-4D65-B816-56CBC70F2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62FA2-6EBC-4444-B944-AC1F8D6E9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72F63-7120-4CFC-9305-E984D4CB3D26}" type="datetimeFigureOut">
              <a:rPr lang="en-CA" smtClean="0"/>
              <a:t>2023-05-14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A8D0B-7FD0-47BF-9097-51F20A076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2DD31A-B57A-4146-9CB5-4B8493AF6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B29EA-8101-4820-AAF3-48FE11DD84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9530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8ED06-656E-4C65-A240-C04EF46F4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A6F5E-9BBE-4874-A81F-B766F3C203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EEE211-ED4C-4A96-9A78-7E0227ED84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29B866-A21C-4F57-9D05-821567E89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72F63-7120-4CFC-9305-E984D4CB3D26}" type="datetimeFigureOut">
              <a:rPr lang="en-CA" smtClean="0"/>
              <a:t>2023-05-14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C9815-C3EB-4A63-A43F-E038BC7D5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F3B7A-13C8-41FE-9DED-001A6BA9E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B29EA-8101-4820-AAF3-48FE11DD84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7221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7E0AD-2E56-435E-925E-2A852587F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C5828-105E-4A67-9BB3-4BE703285F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FE3ADA-7988-45A0-886A-7227FFCFA4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E3D515-3E17-4947-A137-9055CD219A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792FBD-EFF2-46CA-A957-42BCB9FE9A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8EC1D4-3322-4273-887E-7A8F3BE0F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72F63-7120-4CFC-9305-E984D4CB3D26}" type="datetimeFigureOut">
              <a:rPr lang="en-CA" smtClean="0"/>
              <a:t>2023-05-14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DE181C-9474-4769-BD67-6C608FBBD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E74574-AF11-477A-B32F-357A3AFDD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B29EA-8101-4820-AAF3-48FE11DD84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26037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168B3-7A70-4B44-A18C-1687F11B9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626519-8250-4678-80CC-3C3F582C0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72F63-7120-4CFC-9305-E984D4CB3D26}" type="datetimeFigureOut">
              <a:rPr lang="en-CA" smtClean="0"/>
              <a:t>2023-05-14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948E23-C2E8-4C3D-AE78-C0EE32995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E57525-B7BD-4C92-8EE6-34ACA113B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B29EA-8101-4820-AAF3-48FE11DD84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63435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022A97-6248-4795-923F-08210AEC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72F63-7120-4CFC-9305-E984D4CB3D26}" type="datetimeFigureOut">
              <a:rPr lang="en-CA" smtClean="0"/>
              <a:t>2023-05-14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9342BE-DCCF-47AD-A99D-A38B2D471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4C543-6AAA-4410-A50C-58610CDCF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B29EA-8101-4820-AAF3-48FE11DD84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5621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4F4DE-F11E-4F1B-A6E0-4E0B6ABB4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7BB8C-945D-43C3-8CBC-90D439780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112FE1-0F92-4517-87F0-56972D2D19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ED7AB2-EFA6-4F7B-9D4A-BD3281284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72F63-7120-4CFC-9305-E984D4CB3D26}" type="datetimeFigureOut">
              <a:rPr lang="en-CA" smtClean="0"/>
              <a:t>2023-05-14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5BBE8D-9BE0-4782-81F9-579F36A06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22C240-CE5A-427F-AF4E-B6D51E48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B29EA-8101-4820-AAF3-48FE11DD84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35045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B133F-3606-4507-8DFF-BD3A4D7D9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516485-B807-4B1B-9509-A26D4D2C0C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556403-078F-402A-A1BF-6F54422EF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CD5090-5C53-4E73-B343-0F19E82EE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72F63-7120-4CFC-9305-E984D4CB3D26}" type="datetimeFigureOut">
              <a:rPr lang="en-CA" smtClean="0"/>
              <a:t>2023-05-14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4CC42B-1ED3-4941-9C4A-EA643092F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1AFFC-2748-47F6-9C7D-26D0713A0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B29EA-8101-4820-AAF3-48FE11DD84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35390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F6972-7B63-4E39-A857-33BFA40EF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C632B0-2D96-460E-92DC-82A8E92981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31771-0029-490D-8F6D-CAB07849A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72F63-7120-4CFC-9305-E984D4CB3D26}" type="datetimeFigureOut">
              <a:rPr lang="en-CA" smtClean="0"/>
              <a:t>2023-05-14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CF787-7D8E-4A5D-8B62-BB901B930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C2F0B-6397-479A-93BA-AEB252D1E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B29EA-8101-4820-AAF3-48FE11DD84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41888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6F5BD-0C73-4D78-BE97-AF0D678F8D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47987B-3D29-4170-B43A-94CE708B69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9ABB3-5FD5-4C88-A91A-E10AB18CE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72F63-7120-4CFC-9305-E984D4CB3D26}" type="datetimeFigureOut">
              <a:rPr lang="en-CA" smtClean="0"/>
              <a:t>2023-05-14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271D4-3488-4DB9-8D10-2491C19C3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068E7-A28D-4656-896B-559DBD4D8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B29EA-8101-4820-AAF3-48FE11DD84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0221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D06911-A840-4CC4-9887-95D716D50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E009BE-7DFD-4D09-A0DD-A731121F4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892B6-9C26-4CBA-B43E-EB1A7F214B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372F63-7120-4CFC-9305-E984D4CB3D26}" type="datetimeFigureOut">
              <a:rPr lang="en-CA" smtClean="0"/>
              <a:t>2023-05-14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E6E27-EE4C-4143-B36B-1535291197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37F11-533F-4D46-BCA8-4488D2AD4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4B29EA-8101-4820-AAF3-48FE11DD84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7421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9EB7A-E5C3-4C03-86C6-8BE993E377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CA" b="1" dirty="0">
                <a:latin typeface="+mn-lt"/>
                <a:cs typeface="Times New Roman" panose="02020603050405020304" pitchFamily="18" charset="0"/>
              </a:rPr>
              <a:t>Lab 0</a:t>
            </a:r>
            <a:br>
              <a:rPr lang="en-CA" b="1" dirty="0">
                <a:latin typeface="+mn-lt"/>
                <a:cs typeface="Times New Roman" panose="02020603050405020304" pitchFamily="18" charset="0"/>
              </a:rPr>
            </a:br>
            <a:br>
              <a:rPr lang="en-CA" b="1" dirty="0">
                <a:latin typeface="+mn-lt"/>
                <a:cs typeface="Times New Roman" panose="02020603050405020304" pitchFamily="18" charset="0"/>
              </a:rPr>
            </a:br>
            <a:r>
              <a:rPr lang="en-CA" sz="3600" b="1" dirty="0">
                <a:latin typeface="+mn-lt"/>
                <a:cs typeface="Times New Roman" panose="02020603050405020304" pitchFamily="18" charset="0"/>
              </a:rPr>
              <a:t>Quick tips on how to write, compile and run a C program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C51234-799D-4F2A-8B85-7D2D522CE0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endParaRPr lang="en-CA" sz="1800" b="0" i="0" u="none" strike="noStrike" baseline="0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endParaRPr lang="en-CA" dirty="0">
              <a:cs typeface="Times New Roman" panose="02020603050405020304" pitchFamily="18" charset="0"/>
            </a:endParaRPr>
          </a:p>
          <a:p>
            <a:r>
              <a:rPr lang="en-CA" dirty="0">
                <a:cs typeface="Times New Roman" panose="02020603050405020304" pitchFamily="18" charset="0"/>
              </a:rPr>
              <a:t>CSI3131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3508650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381C-7FBA-A427-6EF1-72D8C7C0B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Write “Hello World Code” in 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42DE0-4F99-BA42-519F-63816092C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Low"/>
            <a:r>
              <a:rPr lang="en-CA" b="0" i="0" dirty="0">
                <a:solidFill>
                  <a:srgbClr val="374151"/>
                </a:solidFill>
                <a:effectLst/>
                <a:latin typeface="Söhne"/>
              </a:rPr>
              <a:t>To write a C program and save it in Linux or macOS, you can follow these steps:</a:t>
            </a:r>
          </a:p>
          <a:p>
            <a:pPr lvl="1" algn="justLow"/>
            <a:r>
              <a:rPr lang="en-CA" b="0" i="0" dirty="0">
                <a:solidFill>
                  <a:srgbClr val="374151"/>
                </a:solidFill>
                <a:effectLst/>
                <a:latin typeface="Söhne"/>
              </a:rPr>
              <a:t>Open a text editor. Linux and macOS come with various text editors pre-installed, such as Nano, Vim, or Emacs. Alternatively, you can use a graphical text editor like Sublime Text, Atom, or Visual Studio Code.</a:t>
            </a:r>
          </a:p>
          <a:p>
            <a:pPr lvl="1" algn="justLow"/>
            <a:endParaRPr lang="en-CA" b="0" i="0" dirty="0">
              <a:solidFill>
                <a:srgbClr val="374151"/>
              </a:solidFill>
              <a:effectLst/>
              <a:latin typeface="Söhne"/>
            </a:endParaRPr>
          </a:p>
          <a:p>
            <a:pPr lvl="1" algn="justLow"/>
            <a:r>
              <a:rPr lang="en-CA" b="0" i="0" dirty="0">
                <a:solidFill>
                  <a:srgbClr val="374151"/>
                </a:solidFill>
                <a:effectLst/>
                <a:latin typeface="Söhne"/>
              </a:rPr>
              <a:t>Create a new file in the text editor and enter the C program code. For example, you can write the "Hello, World!" program:</a:t>
            </a:r>
          </a:p>
          <a:p>
            <a:pPr lvl="1"/>
            <a:endParaRPr lang="en-US" dirty="0"/>
          </a:p>
        </p:txBody>
      </p:sp>
      <p:pic>
        <p:nvPicPr>
          <p:cNvPr id="5" name="Picture 4" descr="A screen shot of a computer code&#10;&#10;Description automatically generated with low confidence">
            <a:extLst>
              <a:ext uri="{FF2B5EF4-FFF2-40B4-BE49-F238E27FC236}">
                <a16:creationId xmlns:a16="http://schemas.microsoft.com/office/drawing/2014/main" id="{9306251E-20F7-C622-88B6-40A8490847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8447" y="4747536"/>
            <a:ext cx="3383877" cy="1986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36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A35B7-FE45-6763-90CB-8DA08B26E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Write “Hello World Code” in 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3AC2D-81A0-7AAC-6DC6-1C3AFB32A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CA" sz="2400" b="0" i="0" dirty="0">
                <a:solidFill>
                  <a:srgbClr val="374151"/>
                </a:solidFill>
                <a:effectLst/>
                <a:latin typeface="Söhne"/>
              </a:rPr>
              <a:t>Save the file with a </a:t>
            </a:r>
            <a:r>
              <a:rPr lang="en-CA" sz="2400" b="1" dirty="0"/>
              <a:t>.c</a:t>
            </a:r>
            <a:r>
              <a:rPr lang="en-CA" sz="2400" b="1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CA" sz="2400" b="0" i="0" dirty="0">
                <a:solidFill>
                  <a:srgbClr val="374151"/>
                </a:solidFill>
                <a:effectLst/>
                <a:latin typeface="Söhne"/>
              </a:rPr>
              <a:t>extension. Choose a meaningful filename for your program, such as </a:t>
            </a:r>
            <a:r>
              <a:rPr lang="en-CA" sz="2400" b="1" dirty="0" err="1"/>
              <a:t>hello.c</a:t>
            </a:r>
            <a:r>
              <a:rPr lang="en-CA" sz="2400" b="0" i="0" dirty="0">
                <a:solidFill>
                  <a:srgbClr val="374151"/>
                </a:solidFill>
                <a:effectLst/>
                <a:latin typeface="Söhne"/>
              </a:rPr>
              <a:t> Make sure to use the </a:t>
            </a:r>
            <a:r>
              <a:rPr lang="en-CA" sz="2400" b="1" dirty="0"/>
              <a:t>.c</a:t>
            </a:r>
            <a:r>
              <a:rPr lang="en-CA" sz="2400" b="1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CA" sz="2400" b="0" i="0" dirty="0">
                <a:solidFill>
                  <a:srgbClr val="374151"/>
                </a:solidFill>
                <a:effectLst/>
                <a:latin typeface="Söhne"/>
              </a:rPr>
              <a:t>extension to indicate that it's a C program.</a:t>
            </a:r>
          </a:p>
          <a:p>
            <a:pPr algn="just"/>
            <a:r>
              <a:rPr lang="en-CA" sz="2400" b="0" i="0" dirty="0">
                <a:solidFill>
                  <a:srgbClr val="374151"/>
                </a:solidFill>
                <a:effectLst/>
                <a:latin typeface="Söhne"/>
              </a:rPr>
              <a:t>Choose a directory where you want to save your program. For example, you can save it in your home directory or create a new folder specifically for your C programs.</a:t>
            </a:r>
          </a:p>
          <a:p>
            <a:pPr algn="just"/>
            <a:r>
              <a:rPr lang="en-CA" sz="2400" b="0" i="0" dirty="0">
                <a:solidFill>
                  <a:srgbClr val="374151"/>
                </a:solidFill>
                <a:effectLst/>
                <a:latin typeface="Söhne"/>
              </a:rPr>
              <a:t>Open the terminal on your Linux or macOS system.</a:t>
            </a:r>
          </a:p>
          <a:p>
            <a:pPr algn="just"/>
            <a:r>
              <a:rPr lang="en-CA" sz="2400" b="0" i="0" dirty="0">
                <a:solidFill>
                  <a:srgbClr val="374151"/>
                </a:solidFill>
                <a:effectLst/>
                <a:latin typeface="Söhne"/>
              </a:rPr>
              <a:t>Navigate to the directory where you saved the C program using the </a:t>
            </a:r>
            <a:r>
              <a:rPr lang="en-CA" sz="2400" b="1" i="0" dirty="0">
                <a:solidFill>
                  <a:srgbClr val="374151"/>
                </a:solidFill>
                <a:effectLst/>
                <a:latin typeface="Söhne"/>
              </a:rPr>
              <a:t>cd</a:t>
            </a:r>
            <a:r>
              <a:rPr lang="en-CA" sz="2400" b="0" i="0" dirty="0">
                <a:solidFill>
                  <a:srgbClr val="374151"/>
                </a:solidFill>
                <a:effectLst/>
                <a:latin typeface="Söhne"/>
              </a:rPr>
              <a:t> command. For example, if you saved the program in your home directory, you can use the ‘cd’ </a:t>
            </a:r>
            <a:r>
              <a:rPr lang="en-CA" sz="2400" dirty="0">
                <a:solidFill>
                  <a:srgbClr val="374151"/>
                </a:solidFill>
                <a:latin typeface="Söhne"/>
              </a:rPr>
              <a:t>c</a:t>
            </a:r>
            <a:r>
              <a:rPr lang="en-CA" sz="2400" b="0" i="0" dirty="0">
                <a:solidFill>
                  <a:srgbClr val="374151"/>
                </a:solidFill>
                <a:effectLst/>
                <a:latin typeface="Söhne"/>
              </a:rPr>
              <a:t>ommand to navigate there.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666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A77AC-1F08-E2EF-519C-0D1455428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919" y="160639"/>
            <a:ext cx="11044881" cy="1530049"/>
          </a:xfrm>
        </p:spPr>
        <p:txBody>
          <a:bodyPr/>
          <a:lstStyle/>
          <a:p>
            <a:r>
              <a:rPr lang="en-US" b="1" dirty="0"/>
              <a:t>Compile and Run the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1B1E3-94F7-2C94-6165-F41773A5E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919" y="1825624"/>
            <a:ext cx="11044881" cy="4871737"/>
          </a:xfrm>
        </p:spPr>
        <p:txBody>
          <a:bodyPr>
            <a:normAutofit/>
          </a:bodyPr>
          <a:lstStyle/>
          <a:p>
            <a:r>
              <a:rPr lang="en-CA" sz="2400" b="0" i="0" dirty="0">
                <a:solidFill>
                  <a:srgbClr val="374151"/>
                </a:solidFill>
                <a:effectLst/>
                <a:latin typeface="Söhne"/>
              </a:rPr>
              <a:t>Compile the C program using a C compiler. On Linux and macOS, the most common C compiler is </a:t>
            </a:r>
            <a:r>
              <a:rPr lang="en-CA" sz="2400" b="1" i="0" dirty="0" err="1">
                <a:solidFill>
                  <a:srgbClr val="374151"/>
                </a:solidFill>
                <a:effectLst/>
                <a:latin typeface="Söhne"/>
              </a:rPr>
              <a:t>gcc</a:t>
            </a:r>
            <a:r>
              <a:rPr lang="en-CA" sz="2400" b="0" i="0" dirty="0">
                <a:solidFill>
                  <a:srgbClr val="374151"/>
                </a:solidFill>
                <a:effectLst/>
                <a:latin typeface="Söhne"/>
              </a:rPr>
              <a:t>. In the terminal, use the following command to compile the program:</a:t>
            </a:r>
          </a:p>
          <a:p>
            <a:endParaRPr lang="en-US" sz="2400" dirty="0"/>
          </a:p>
          <a:p>
            <a:endParaRPr lang="en-CA" sz="2400" b="0" i="0" dirty="0">
              <a:solidFill>
                <a:srgbClr val="374151"/>
              </a:solidFill>
              <a:effectLst/>
              <a:latin typeface="Söhne"/>
            </a:endParaRPr>
          </a:p>
          <a:p>
            <a:r>
              <a:rPr lang="en-CA" sz="2400" b="0" i="0" dirty="0">
                <a:solidFill>
                  <a:srgbClr val="374151"/>
                </a:solidFill>
                <a:effectLst/>
                <a:latin typeface="Söhne"/>
              </a:rPr>
              <a:t>This command tells </a:t>
            </a:r>
            <a:r>
              <a:rPr lang="en-CA" sz="2400" b="1" dirty="0" err="1"/>
              <a:t>gcc</a:t>
            </a:r>
            <a:r>
              <a:rPr lang="en-CA" sz="2400" b="0" i="0" dirty="0">
                <a:solidFill>
                  <a:srgbClr val="374151"/>
                </a:solidFill>
                <a:effectLst/>
                <a:latin typeface="Söhne"/>
              </a:rPr>
              <a:t> to compile the </a:t>
            </a:r>
            <a:r>
              <a:rPr lang="en-CA" sz="2400" b="1" dirty="0" err="1"/>
              <a:t>hello.c</a:t>
            </a:r>
            <a:r>
              <a:rPr lang="en-CA" sz="2400" b="1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CA" sz="2400" b="0" i="0" dirty="0">
                <a:solidFill>
                  <a:srgbClr val="374151"/>
                </a:solidFill>
                <a:effectLst/>
                <a:latin typeface="Söhne"/>
              </a:rPr>
              <a:t>file and create an executable file named </a:t>
            </a:r>
            <a:r>
              <a:rPr lang="en-CA" sz="2400" b="1" dirty="0"/>
              <a:t>hello</a:t>
            </a:r>
            <a:r>
              <a:rPr lang="en-CA" sz="2400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r>
              <a:rPr lang="en-CA" sz="2400" b="0" i="0" dirty="0">
                <a:solidFill>
                  <a:srgbClr val="374151"/>
                </a:solidFill>
                <a:effectLst/>
                <a:latin typeface="Söhne"/>
              </a:rPr>
              <a:t>After successful compilation, you can run the program by entering the following command in the terminal:</a:t>
            </a:r>
            <a:endParaRPr lang="en-US" sz="2400" b="0" i="0" dirty="0">
              <a:solidFill>
                <a:srgbClr val="374151"/>
              </a:solidFill>
              <a:effectLst/>
              <a:latin typeface="Söhne"/>
            </a:endParaRPr>
          </a:p>
          <a:p>
            <a:endParaRPr lang="en-CA" sz="2400" b="0" i="0" dirty="0">
              <a:solidFill>
                <a:srgbClr val="374151"/>
              </a:solidFill>
              <a:effectLst/>
              <a:latin typeface="Söhne"/>
            </a:endParaRPr>
          </a:p>
          <a:p>
            <a:r>
              <a:rPr lang="en-CA" sz="2400" b="0" i="0" dirty="0">
                <a:solidFill>
                  <a:srgbClr val="374151"/>
                </a:solidFill>
                <a:effectLst/>
                <a:latin typeface="Söhne"/>
              </a:rPr>
              <a:t>This command executes the compiled program, and you should see the "Hello, World!" message printed in the terminal.</a:t>
            </a:r>
          </a:p>
        </p:txBody>
      </p:sp>
      <p:pic>
        <p:nvPicPr>
          <p:cNvPr id="5" name="Picture 4" descr="A black background with white text&#10;&#10;Description automatically generated with low confidence">
            <a:extLst>
              <a:ext uri="{FF2B5EF4-FFF2-40B4-BE49-F238E27FC236}">
                <a16:creationId xmlns:a16="http://schemas.microsoft.com/office/drawing/2014/main" id="{0F55D86B-46C7-E13B-BD88-609B98E343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2649805"/>
            <a:ext cx="2912076" cy="728019"/>
          </a:xfrm>
          <a:prstGeom prst="rect">
            <a:avLst/>
          </a:prstGeom>
        </p:spPr>
      </p:pic>
      <p:pic>
        <p:nvPicPr>
          <p:cNvPr id="7" name="Picture 6" descr="A white text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158C315F-4A8D-7AF7-8E68-E513B6726D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567" y="4766037"/>
            <a:ext cx="1979319" cy="596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24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BAE80-2E7B-E142-DFAD-E68D2E64B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Main structure of C program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C5A08-B235-22EE-5884-C7AEC2CE4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Low"/>
            <a:r>
              <a:rPr lang="en-CA" b="0" i="0" dirty="0">
                <a:solidFill>
                  <a:srgbClr val="374151"/>
                </a:solidFill>
                <a:effectLst/>
                <a:latin typeface="Söhne"/>
              </a:rPr>
              <a:t>Here's an explanation of each line in the "Hello, World!" program written in C:</a:t>
            </a:r>
            <a:endParaRPr lang="en-US" dirty="0"/>
          </a:p>
        </p:txBody>
      </p:sp>
      <p:pic>
        <p:nvPicPr>
          <p:cNvPr id="5" name="Picture 4" descr="A picture containing font, graphics, design, typography&#10;&#10;Description automatically generated">
            <a:extLst>
              <a:ext uri="{FF2B5EF4-FFF2-40B4-BE49-F238E27FC236}">
                <a16:creationId xmlns:a16="http://schemas.microsoft.com/office/drawing/2014/main" id="{4E5AC1F1-F72B-24CB-5E83-BD099325CF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925" y="3082544"/>
            <a:ext cx="2969623" cy="6929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ADE25E-A07E-5458-E423-CA12AA5F7B51}"/>
              </a:ext>
            </a:extLst>
          </p:cNvPr>
          <p:cNvSpPr txBox="1"/>
          <p:nvPr/>
        </p:nvSpPr>
        <p:spPr>
          <a:xfrm>
            <a:off x="838200" y="4188941"/>
            <a:ext cx="10515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/>
            <a:r>
              <a:rPr lang="en-CA" sz="2400" b="0" i="0" dirty="0">
                <a:solidFill>
                  <a:srgbClr val="374151"/>
                </a:solidFill>
                <a:effectLst/>
                <a:latin typeface="Söhne"/>
              </a:rPr>
              <a:t>This line is a preprocessor directive that tells the C compiler to include the </a:t>
            </a:r>
            <a:r>
              <a:rPr lang="en-CA" sz="2400" b="1" dirty="0" err="1"/>
              <a:t>stdio.h</a:t>
            </a:r>
            <a:r>
              <a:rPr lang="en-CA" sz="2400" b="0" i="0" dirty="0">
                <a:solidFill>
                  <a:srgbClr val="374151"/>
                </a:solidFill>
                <a:effectLst/>
                <a:latin typeface="Söhne"/>
              </a:rPr>
              <a:t> header file, which stands for "standard input/output." This header file provides functions like </a:t>
            </a:r>
            <a:r>
              <a:rPr lang="en-CA" sz="2400" b="1" dirty="0" err="1"/>
              <a:t>printf</a:t>
            </a:r>
            <a:r>
              <a:rPr lang="en-CA" sz="2400" b="1" dirty="0"/>
              <a:t>()</a:t>
            </a:r>
            <a:r>
              <a:rPr lang="en-CA" sz="2400" b="1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CA" sz="2400" b="0" i="0" dirty="0">
                <a:solidFill>
                  <a:srgbClr val="374151"/>
                </a:solidFill>
                <a:effectLst/>
                <a:latin typeface="Söhne"/>
              </a:rPr>
              <a:t>that allow you to perform input and output operations</a:t>
            </a:r>
            <a:r>
              <a:rPr lang="en-CA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550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34FC3-5881-58D7-6430-56F32D2F1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Main structure of C program</a:t>
            </a:r>
          </a:p>
        </p:txBody>
      </p:sp>
      <p:pic>
        <p:nvPicPr>
          <p:cNvPr id="5" name="Content Placeholder 4" descr="A close-up of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F955E367-F089-65E1-F144-AE0929CA8B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210" y="1928189"/>
            <a:ext cx="1638300" cy="4826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948032-51D8-F100-C15B-FF8FC4ECC220}"/>
              </a:ext>
            </a:extLst>
          </p:cNvPr>
          <p:cNvSpPr txBox="1"/>
          <p:nvPr/>
        </p:nvSpPr>
        <p:spPr>
          <a:xfrm>
            <a:off x="838200" y="2704683"/>
            <a:ext cx="108529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/>
            <a:r>
              <a:rPr lang="en-CA" sz="2400" b="0" i="0" dirty="0">
                <a:solidFill>
                  <a:srgbClr val="374151"/>
                </a:solidFill>
                <a:effectLst/>
                <a:latin typeface="Söhne"/>
              </a:rPr>
              <a:t>This line declares the </a:t>
            </a:r>
            <a:r>
              <a:rPr lang="en-CA" sz="2400" b="1" dirty="0"/>
              <a:t>main()</a:t>
            </a:r>
            <a:r>
              <a:rPr lang="en-CA" sz="2400" b="1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CA" sz="2400" b="0" i="0" dirty="0">
                <a:solidFill>
                  <a:srgbClr val="374151"/>
                </a:solidFill>
                <a:effectLst/>
                <a:latin typeface="Söhne"/>
              </a:rPr>
              <a:t>function, which is the entry point of a C program. It indicates that the program's execution will start from this point. The </a:t>
            </a:r>
            <a:r>
              <a:rPr lang="en-CA" sz="2400" b="1" dirty="0"/>
              <a:t>int</a:t>
            </a:r>
            <a:r>
              <a:rPr lang="en-CA" sz="2400" b="0" i="0" dirty="0">
                <a:solidFill>
                  <a:srgbClr val="374151"/>
                </a:solidFill>
                <a:effectLst/>
                <a:latin typeface="Söhne"/>
              </a:rPr>
              <a:t> before </a:t>
            </a:r>
            <a:r>
              <a:rPr lang="en-CA" sz="2400" b="1" dirty="0"/>
              <a:t>main()</a:t>
            </a:r>
            <a:r>
              <a:rPr lang="en-CA" sz="2400" b="1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CA" sz="2400" b="0" i="0" dirty="0">
                <a:solidFill>
                  <a:srgbClr val="374151"/>
                </a:solidFill>
                <a:effectLst/>
                <a:latin typeface="Söhne"/>
              </a:rPr>
              <a:t>specifies that the function returns an integer value.</a:t>
            </a:r>
            <a:endParaRPr lang="en-US" sz="2400" dirty="0"/>
          </a:p>
        </p:txBody>
      </p:sp>
      <p:pic>
        <p:nvPicPr>
          <p:cNvPr id="8" name="Picture 7" descr="A picture containing font, graphics, screenshot, graphic design&#10;&#10;Description automatically generated">
            <a:extLst>
              <a:ext uri="{FF2B5EF4-FFF2-40B4-BE49-F238E27FC236}">
                <a16:creationId xmlns:a16="http://schemas.microsoft.com/office/drawing/2014/main" id="{E6C0BF66-EF88-2BA3-FCEB-8267FB40BD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5" y="4202812"/>
            <a:ext cx="3060700" cy="482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24B6CF-D69A-E2EF-782E-3B499FEF64E7}"/>
              </a:ext>
            </a:extLst>
          </p:cNvPr>
          <p:cNvSpPr txBox="1"/>
          <p:nvPr/>
        </p:nvSpPr>
        <p:spPr>
          <a:xfrm>
            <a:off x="1006046" y="4913317"/>
            <a:ext cx="105172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/>
            <a:r>
              <a:rPr lang="en-CA" sz="2400" b="0" i="0" dirty="0">
                <a:solidFill>
                  <a:srgbClr val="374151"/>
                </a:solidFill>
                <a:effectLst/>
                <a:latin typeface="Söhne"/>
              </a:rPr>
              <a:t>This line uses the </a:t>
            </a:r>
            <a:r>
              <a:rPr lang="en-CA" sz="2400" b="1" dirty="0" err="1"/>
              <a:t>printf</a:t>
            </a:r>
            <a:r>
              <a:rPr lang="en-CA" sz="2400" b="1" dirty="0"/>
              <a:t>()</a:t>
            </a:r>
            <a:r>
              <a:rPr lang="en-CA" sz="2400" b="1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CA" sz="2400" b="0" i="0" dirty="0">
                <a:solidFill>
                  <a:srgbClr val="374151"/>
                </a:solidFill>
                <a:effectLst/>
                <a:latin typeface="Söhne"/>
              </a:rPr>
              <a:t>function to print the text "Hello, World!" to the console. The </a:t>
            </a:r>
            <a:r>
              <a:rPr lang="en-CA" sz="2400" b="1" dirty="0" err="1"/>
              <a:t>printf</a:t>
            </a:r>
            <a:r>
              <a:rPr lang="en-CA" sz="2400" b="1" dirty="0"/>
              <a:t>()</a:t>
            </a:r>
            <a:r>
              <a:rPr lang="en-CA" sz="2400" b="1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CA" sz="2400" b="0" i="0" dirty="0">
                <a:solidFill>
                  <a:srgbClr val="374151"/>
                </a:solidFill>
                <a:effectLst/>
                <a:latin typeface="Söhne"/>
              </a:rPr>
              <a:t>function is part of the </a:t>
            </a:r>
            <a:r>
              <a:rPr lang="en-CA" sz="2400" b="1" dirty="0" err="1"/>
              <a:t>stdio.h</a:t>
            </a:r>
            <a:r>
              <a:rPr lang="en-CA" sz="2400" b="1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CA" sz="2400" b="0" i="0" dirty="0">
                <a:solidFill>
                  <a:srgbClr val="374151"/>
                </a:solidFill>
                <a:effectLst/>
                <a:latin typeface="Söhne"/>
              </a:rPr>
              <a:t>library and is used for formatted output. The text to be printed is enclosed within double quotes. The </a:t>
            </a:r>
            <a:r>
              <a:rPr lang="en-CA" sz="2400" b="1" dirty="0"/>
              <a:t>\n</a:t>
            </a:r>
            <a:r>
              <a:rPr lang="en-CA" sz="2400" b="1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CA" sz="2400" b="0" i="0" dirty="0">
                <a:solidFill>
                  <a:srgbClr val="374151"/>
                </a:solidFill>
                <a:effectLst/>
                <a:latin typeface="Söhne"/>
              </a:rPr>
              <a:t>represents the newline character, which moves the cursor to the next line after printing the message.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98907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DC5F5-B6EC-EE97-9666-E129FE50F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Main structure of C program </a:t>
            </a:r>
          </a:p>
        </p:txBody>
      </p:sp>
      <p:pic>
        <p:nvPicPr>
          <p:cNvPr id="5" name="Content Placeholder 4" descr="A black background with blue and pink letters&#10;&#10;Description automatically generated with low confidence">
            <a:extLst>
              <a:ext uri="{FF2B5EF4-FFF2-40B4-BE49-F238E27FC236}">
                <a16:creationId xmlns:a16="http://schemas.microsoft.com/office/drawing/2014/main" id="{E0759408-A489-2AD2-DDEC-96ECDEEAF9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29" y="2120424"/>
            <a:ext cx="1371600" cy="508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A4E219-EC4E-764C-3FFB-B570EB5A754B}"/>
              </a:ext>
            </a:extLst>
          </p:cNvPr>
          <p:cNvSpPr txBox="1"/>
          <p:nvPr/>
        </p:nvSpPr>
        <p:spPr>
          <a:xfrm>
            <a:off x="838200" y="3058160"/>
            <a:ext cx="105155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/>
            <a:r>
              <a:rPr lang="en-CA" sz="2400" b="0" i="0" dirty="0">
                <a:solidFill>
                  <a:srgbClr val="374151"/>
                </a:solidFill>
                <a:effectLst/>
                <a:latin typeface="Söhne"/>
              </a:rPr>
              <a:t>This line is a return statement. It ends the </a:t>
            </a:r>
            <a:r>
              <a:rPr lang="en-CA" sz="2400" b="1" dirty="0"/>
              <a:t>main()</a:t>
            </a:r>
            <a:r>
              <a:rPr lang="en-CA" sz="2400" b="1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CA" sz="2400" b="0" i="0" dirty="0">
                <a:solidFill>
                  <a:srgbClr val="374151"/>
                </a:solidFill>
                <a:effectLst/>
                <a:latin typeface="Söhne"/>
              </a:rPr>
              <a:t>function and returns the value 0 to the operating system. By convention, a return value of 0 typically indicates successful execution of the program.</a:t>
            </a:r>
          </a:p>
          <a:p>
            <a:pPr algn="justLow"/>
            <a:endParaRPr lang="en-CA" sz="2400" dirty="0">
              <a:solidFill>
                <a:srgbClr val="374151"/>
              </a:solidFill>
              <a:latin typeface="Söhne"/>
            </a:endParaRPr>
          </a:p>
          <a:p>
            <a:pPr algn="justLow"/>
            <a:r>
              <a:rPr lang="en-CA" sz="2400" b="0" i="0" dirty="0">
                <a:solidFill>
                  <a:srgbClr val="374151"/>
                </a:solidFill>
                <a:effectLst/>
                <a:latin typeface="Söhne"/>
              </a:rPr>
              <a:t>The program ends after the </a:t>
            </a:r>
            <a:r>
              <a:rPr lang="en-CA" sz="2400" b="1" dirty="0"/>
              <a:t>return 0</a:t>
            </a:r>
            <a:r>
              <a:rPr lang="en-CA" sz="2400" dirty="0"/>
              <a:t>;</a:t>
            </a:r>
            <a:r>
              <a:rPr lang="en-CA" sz="2400" b="0" i="0" dirty="0">
                <a:solidFill>
                  <a:srgbClr val="374151"/>
                </a:solidFill>
                <a:effectLst/>
                <a:latin typeface="Söhne"/>
              </a:rPr>
              <a:t> statement, and control is handed back to the operating system.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42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6DB7E-DDA4-914A-A698-388EEBF59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F191B-55C5-6B3C-9CC1-8E7A43F67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Using previous slides you must have learned: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How to write a C program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Compile the code to get the executable file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Run the executable file to get the output </a:t>
            </a:r>
          </a:p>
        </p:txBody>
      </p:sp>
    </p:spTree>
    <p:extLst>
      <p:ext uri="{BB962C8B-B14F-4D97-AF65-F5344CB8AC3E}">
        <p14:creationId xmlns:p14="http://schemas.microsoft.com/office/powerpoint/2010/main" val="4212926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3585</TotalTime>
  <Words>634</Words>
  <Application>Microsoft Macintosh PowerPoint</Application>
  <PresentationFormat>Widescreen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Söhne</vt:lpstr>
      <vt:lpstr>Office Theme</vt:lpstr>
      <vt:lpstr>Lab 0  Quick tips on how to write, compile and run a C program</vt:lpstr>
      <vt:lpstr>Write “Hello World Code” in C</vt:lpstr>
      <vt:lpstr>Write “Hello World Code” in C</vt:lpstr>
      <vt:lpstr>Compile and Run the code</vt:lpstr>
      <vt:lpstr>Main structure of C program </vt:lpstr>
      <vt:lpstr>Main structure of C program</vt:lpstr>
      <vt:lpstr>Main structure of C program 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Lab1 fork() and exec () </dc:title>
  <dc:creator>Qing Ma</dc:creator>
  <cp:lastModifiedBy>Reza Sadeghian</cp:lastModifiedBy>
  <cp:revision>14</cp:revision>
  <dcterms:created xsi:type="dcterms:W3CDTF">2021-01-20T20:37:42Z</dcterms:created>
  <dcterms:modified xsi:type="dcterms:W3CDTF">2023-05-14T18:07:33Z</dcterms:modified>
</cp:coreProperties>
</file>